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4272d775-d21f-bdca-1219-2bf9b91e00c7}">
          <p14:sldIdLst>
            <p14:sldId id="256"/>
          </p14:sldIdLst>
        </p14:section>
        <p14:section name="Исправления" id="{585b3f9d-2ee2-fca4-1662-e985613fcf36}">
          <p14:sldIdLst>
            <p14:sldId id="257"/>
            <p14:sldId id="258"/>
          </p14:sldIdLst>
        </p14:section>
        <p14:section name="Данные и метод" id="{6b56a188-424c-b65d-4f63-761ff6a28c99}">
          <p14:sldIdLst>
            <p14:sldId id="259"/>
            <p14:sldId id="260"/>
          </p14:sldIdLst>
        </p14:section>
        <p14:section name="Результаты" id="{d85b35f9-afcd-8796-cba5-96d40ec5754a}">
          <p14:sldIdLst>
            <p14:sldId id="261"/>
            <p14:sldId id="262"/>
          </p14:sldIdLst>
        </p14:section>
        <p14:section name="Итог" id="{5c167f15-c7f5-ff6d-e25d-e19660e6a6b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что сделано после встречи 09.10. Модель теперь сравнивается с измеренными точками, а не с формулами, и параметры находятся по минимуму функции потерь.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замечания с прошлой встречи. Каждое закрыто, дальше по слайду на каждое.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Картинка, которую показывал на звонке, была построена до исправления. После исправления скачка и пика на 1,25 мкм нет, масса убывает монотонно.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точки сняты с рисунков статей программой: калибровка по делениям осей, центры маркеров находятся автоматически. Данные Clements Fig. 1D - настоящие измерения, Fig. 3C - уравнение, но проверенное авторами на этих измерениях, как вы и говорили.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Matthews мерил флуоресценцию датчика, а не концентрацию. Датчик медленный: он накапливает глутамат за время своего спада, поэтому сравнивать надо его сигнал. Пик концентрации даёт совсем другой профиль, это видно на следующем слайде оранжевой линией.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измеренным D модель описывает профиль Matthews, если транспортёры почти не забирают глутамат за время измерения. Захват из нашего config данным противоречит. Качество зависит от PSF, его в статье нет, поэтому показываю два варианта.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Кривую Clements модель повторяет хорошо, но только при D в щели 4 нм²/мкс. Измерено 330. Значит, ошибка в геометрии щели, а не в параметре. Заодно: Diamond &amp; Jahr 1997 проверили кривую Clements на своих данных - двухфазная кривая описывает их лучше, χ² 0,145 против 0,520.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вопрос к вам - инверсия профиля. Она получалась при курсовых D, которые в 30-600 раз меньше измеренных. С измеренными D её, скорее всего, нет. Нужно решить, что становится результатом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Сибирский федеральный университет · верификация модели · 12.10.2026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Модель диффузии глутамата: проверка по экспериментальным данным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Подгонка методом наименьших квадратов к измеренным точкам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Владислав, группа БФ23-05Б · встреча с научным руководителем 12.10.2026</a:t>
            </a:r>
            <a:endParaRPr lang="en-US" sz="1600" dirty="0"/>
          </a:p>
        </p:txBody>
      </p:sp>
      <p:sp>
        <p:nvSpPr>
          <p:cNvPr id="4" name="motif_dot"/>
          <p:cNvSpPr/>
          <p:nvPr/>
        </p:nvSpPr>
        <p:spPr>
          <a:xfrm>
            <a:off x="795528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Замечания 09.10 и что сделано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Замечание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Сделано</a:t>
            </a:r>
            <a:endParaRPr lang="en-US" sz="1200" dirty="0"/>
          </a:p>
        </p:txBody>
      </p:sp>
      <p:sp>
        <p:nvSpPr>
          <p:cNvPr id="5" name="issue_0"/>
          <p:cNvSpPr/>
          <p:nvPr/>
        </p:nvSpPr>
        <p:spPr>
          <a:xfrm>
            <a:off x="457200" y="1463040"/>
            <a:ext cx="37490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ssue_t_0"/>
          <p:cNvSpPr txBox="1"/>
          <p:nvPr/>
        </p:nvSpPr>
        <p:spPr>
          <a:xfrm>
            <a:off x="640080" y="159105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Пунктир на графиках - формулы, а не данные</a:t>
            </a:r>
            <a:endParaRPr lang="en-US" sz="1400" dirty="0"/>
          </a:p>
        </p:txBody>
      </p:sp>
      <p:sp>
        <p:nvSpPr>
          <p:cNvPr id="7" name="arrow_0"/>
          <p:cNvSpPr/>
          <p:nvPr/>
        </p:nvSpPr>
        <p:spPr>
          <a:xfrm>
            <a:off x="4279392" y="1746504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ne_0"/>
          <p:cNvSpPr/>
          <p:nvPr/>
        </p:nvSpPr>
        <p:spPr>
          <a:xfrm>
            <a:off x="4663440" y="1463040"/>
            <a:ext cx="4023360" cy="841248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done_t_0"/>
          <p:cNvSpPr txBox="1"/>
          <p:nvPr/>
        </p:nvSpPr>
        <p:spPr>
          <a:xfrm>
            <a:off x="4846320" y="159105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Сняты точки с рисунков статей: 45 точек, 4 набора, с погрешностями</a:t>
            </a:r>
            <a:endParaRPr lang="en-US" sz="1400" dirty="0"/>
          </a:p>
        </p:txBody>
      </p:sp>
      <p:sp>
        <p:nvSpPr>
          <p:cNvPr id="10" name="issue_1"/>
          <p:cNvSpPr/>
          <p:nvPr/>
        </p:nvSpPr>
        <p:spPr>
          <a:xfrm>
            <a:off x="457200" y="2487168"/>
            <a:ext cx="37490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ssue_t_1"/>
          <p:cNvSpPr txBox="1"/>
          <p:nvPr/>
        </p:nvSpPr>
        <p:spPr>
          <a:xfrm>
            <a:off x="640080" y="26151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Скачок около 4 мс и пик на 1,25 мкм</a:t>
            </a:r>
            <a:endParaRPr lang="en-US" sz="1400" dirty="0"/>
          </a:p>
        </p:txBody>
      </p:sp>
      <p:sp>
        <p:nvSpPr>
          <p:cNvPr id="12" name="arrow_1"/>
          <p:cNvSpPr/>
          <p:nvPr/>
        </p:nvSpPr>
        <p:spPr>
          <a:xfrm>
            <a:off x="4279392" y="2770632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one_1"/>
          <p:cNvSpPr/>
          <p:nvPr/>
        </p:nvSpPr>
        <p:spPr>
          <a:xfrm>
            <a:off x="4663440" y="2487168"/>
            <a:ext cx="4023360" cy="841248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done_t_1"/>
          <p:cNvSpPr txBox="1"/>
          <p:nvPr/>
        </p:nvSpPr>
        <p:spPr>
          <a:xfrm>
            <a:off x="4846320" y="26151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Найдена ошибка записи кадров, исправлена, расчёт перепроверен</a:t>
            </a:r>
            <a:endParaRPr lang="en-US" sz="1400" dirty="0"/>
          </a:p>
        </p:txBody>
      </p:sp>
      <p:sp>
        <p:nvSpPr>
          <p:cNvPr id="15" name="issue_2"/>
          <p:cNvSpPr/>
          <p:nvPr/>
        </p:nvSpPr>
        <p:spPr>
          <a:xfrm>
            <a:off x="457200" y="3511296"/>
            <a:ext cx="37490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ssue_t_2"/>
          <p:cNvSpPr txBox="1"/>
          <p:nvPr/>
        </p:nvSpPr>
        <p:spPr>
          <a:xfrm>
            <a:off x="640080" y="36393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Нет подгонки: loss = данные минус модель</a:t>
            </a:r>
            <a:endParaRPr lang="en-US" sz="1400" dirty="0"/>
          </a:p>
        </p:txBody>
      </p:sp>
      <p:sp>
        <p:nvSpPr>
          <p:cNvPr id="17" name="arrow_2"/>
          <p:cNvSpPr/>
          <p:nvPr/>
        </p:nvSpPr>
        <p:spPr>
          <a:xfrm>
            <a:off x="4279392" y="3794760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one_2"/>
          <p:cNvSpPr/>
          <p:nvPr/>
        </p:nvSpPr>
        <p:spPr>
          <a:xfrm>
            <a:off x="4663440" y="3511296"/>
            <a:ext cx="4023360" cy="841248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done_t_2"/>
          <p:cNvSpPr txBox="1"/>
          <p:nvPr/>
        </p:nvSpPr>
        <p:spPr>
          <a:xfrm>
            <a:off x="4846320" y="36393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Скрипт fit_to_data.py: χ² по точкам, минимум, интервал ошибки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Скачок около 4 мс был ошибкой записи кадров</a:t>
            </a:r>
            <a:endParaRPr lang="en-US" sz="2400" dirty="0"/>
          </a:p>
        </p:txBody>
      </p:sp>
      <p:pic>
        <p:nvPicPr>
          <p:cNvPr id="3" name="verification_img" descr="verification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30948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Текущий код, тот же расчёт: средняя концентрация в синапсе убывает без скачка; на графике спилловера пик на 1,25 мкм тоже исчез</a:t>
            </a:r>
            <a:endParaRPr lang="en-US" sz="1100" dirty="0"/>
          </a:p>
        </p:txBody>
      </p:sp>
      <p:sp>
        <p:nvSpPr>
          <p:cNvPr id="5" name="cause_card"/>
          <p:cNvSpPr/>
          <p:nvPr/>
        </p:nvSpPr>
        <p:spPr>
          <a:xfrm>
            <a:off x="4663440" y="10515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0" y="118872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Причина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Буфер истории был на 4000 кадров, а при шаге записи 2 их нужно 5000. После ~4 мс в историю шли неверные кадры, из них строились оба графика.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Проверка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Число молекул убывает монотонно: 3000 → 99 за 5 мс (захват и уход за границу).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Исправлено 09.10, коммит 8670170 (solver/fp_solver.py)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Экспериментальные точки: 45 точек из двух статей</a:t>
            </a:r>
            <a:endParaRPr lang="en-US" sz="2400" dirty="0"/>
          </a:p>
        </p:txBody>
      </p:sp>
      <p:graphicFrame>
        <p:nvGraphicFramePr>
          <p:cNvPr id="5" name="data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6400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Набор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Что это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Точек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Используется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Matthews 2022, Fig. 1F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измерение: сигнал датчика от расстояния, n = 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подгонка 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Clements 1992, Fig. 1D, D-AA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измерение: подавление NMDA-тока антагонистом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следующий этап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Clements 1992, Fig. 1D, D-CPP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измерение, контрольный антагонист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следующий этап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Clements 1992, Fig. 3C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уравнение C(t), подогнанное авторами к Fig. 1D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подгонка 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Проверка оцифровки: концентрации ложатся на 1, 3, 10, 30, 100… мкМ; D-CPP 1 мкМ → 0,116 (в тексте подавление 88%), D-AA 100 мкМ → 0,245 (в тексте 78 ± 1%). Погрешность σ: планка SEM или радиус маркера, если планка скрыта. Файлы: data/experimental_points.json и .xlsx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Метод: модель считает то, что измерил прибор</a:t>
            </a:r>
            <a:endParaRPr lang="en-US" sz="2400" dirty="0"/>
          </a:p>
        </p:txBody>
      </p:sp>
      <p:sp>
        <p:nvSpPr>
          <p:cNvPr id="3" name="step_0"/>
          <p:cNvSpPr/>
          <p:nvPr/>
        </p:nvSpPr>
        <p:spPr>
          <a:xfrm>
            <a:off x="457200" y="11430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_dot_0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Решатель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C(r, t) после выброса 3000 молекул</a:t>
            </a:r>
            <a:endParaRPr lang="en-US" sz="1200" dirty="0"/>
          </a:p>
        </p:txBody>
      </p:sp>
      <p:sp>
        <p:nvSpPr>
          <p:cNvPr id="8" name="step_1"/>
          <p:cNvSpPr/>
          <p:nvPr/>
        </p:nvSpPr>
        <p:spPr>
          <a:xfrm>
            <a:off x="2560320" y="11430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_dot_1"/>
          <p:cNvSpPr/>
          <p:nvPr/>
        </p:nvSpPr>
        <p:spPr>
          <a:xfrm>
            <a:off x="269748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Датчик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dB/dt = kon·C(1−B) − koff·B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Kd 4,9 мкМ, 1/koff 60 мс</a:t>
            </a:r>
            <a:endParaRPr lang="en-US" sz="1200" dirty="0"/>
          </a:p>
        </p:txBody>
      </p:sp>
      <p:sp>
        <p:nvSpPr>
          <p:cNvPr id="13" name="step_2"/>
          <p:cNvSpPr/>
          <p:nvPr/>
        </p:nvSpPr>
        <p:spPr>
          <a:xfrm>
            <a:off x="4663440" y="11430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_dot_2"/>
          <p:cNvSpPr/>
          <p:nvPr/>
        </p:nvSpPr>
        <p:spPr>
          <a:xfrm>
            <a:off x="480060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Оптика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размытие PSF микроскопа, нормировка у бутона</a:t>
            </a:r>
            <a:endParaRPr lang="en-US" sz="1200" dirty="0"/>
          </a:p>
        </p:txBody>
      </p:sp>
      <p:sp>
        <p:nvSpPr>
          <p:cNvPr id="18" name="step_3"/>
          <p:cNvSpPr/>
          <p:nvPr/>
        </p:nvSpPr>
        <p:spPr>
          <a:xfrm>
            <a:off x="6766560" y="11430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_dot_3"/>
          <p:cNvSpPr/>
          <p:nvPr/>
        </p:nvSpPr>
        <p:spPr>
          <a:xfrm>
            <a:off x="690372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Сравнение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χ² = Σ((модель − данные)/σ)²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минимум → параметр</a:t>
            </a:r>
            <a:endParaRPr lang="en-US" sz="1200" dirty="0"/>
          </a:p>
        </p:txBody>
      </p:sp>
      <p:sp>
        <p:nvSpPr>
          <p:cNvPr id="23" name="fixed_card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4747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Зафиксировано по измерениям: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 вне синапса 320 нм²/мкс (Zheng 2008), Kd и время спада датчика (Matthews 2022).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Подбирается: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A - скорость захвата Vmax_pm, в B - D в щели.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Допущение: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PSF микроскопа в статье не указан, проверены два варианта.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A. Matthews 2022: ложится при слабом захвате</a:t>
            </a:r>
            <a:endParaRPr lang="en-US" sz="2400" dirty="0"/>
          </a:p>
        </p:txBody>
      </p:sp>
      <p:pic>
        <p:nvPicPr>
          <p:cNvPr id="3" name="fit_a_img" descr="fit_A_matthews_psf0.5x2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035040" cy="24140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20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PSF 0,5 × 2,5 мкм. Чёрные точки - измерение, синяя линия - модель в минимуме χ²</a:t>
            </a:r>
            <a:endParaRPr lang="en-US" sz="1100" dirty="0"/>
          </a:p>
        </p:txBody>
      </p:sp>
      <p:sp>
        <p:nvSpPr>
          <p:cNvPr id="5" name="statA1_big"/>
          <p:cNvSpPr txBox="1"/>
          <p:nvPr/>
        </p:nvSpPr>
        <p:spPr>
          <a:xfrm>
            <a:off x="676656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8,2 / 12</a:t>
            </a:r>
            <a:endParaRPr lang="en-US" sz="3000" dirty="0"/>
          </a:p>
        </p:txBody>
      </p:sp>
      <p:sp>
        <p:nvSpPr>
          <p:cNvPr id="6" name="statA1_lbl"/>
          <p:cNvSpPr txBox="1"/>
          <p:nvPr/>
        </p:nvSpPr>
        <p:spPr>
          <a:xfrm>
            <a:off x="6766560" y="16367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χ² / степени свободы: в пределах погрешностей</a:t>
            </a:r>
            <a:endParaRPr lang="en-US" sz="1100" dirty="0"/>
          </a:p>
        </p:txBody>
      </p:sp>
      <p:sp>
        <p:nvSpPr>
          <p:cNvPr id="7" name="statA2_big"/>
          <p:cNvSpPr txBox="1"/>
          <p:nvPr/>
        </p:nvSpPr>
        <p:spPr>
          <a:xfrm>
            <a:off x="6766560" y="2240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0</a:t>
            </a:r>
            <a:endParaRPr lang="en-US" sz="3000" dirty="0"/>
          </a:p>
        </p:txBody>
      </p:sp>
      <p:sp>
        <p:nvSpPr>
          <p:cNvPr id="8" name="statA2_lbl"/>
          <p:cNvSpPr txBox="1"/>
          <p:nvPr/>
        </p:nvSpPr>
        <p:spPr>
          <a:xfrm>
            <a:off x="6766560" y="28254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лучший захват Vmax_pm (≤ 3·10⁻⁵ мкМ/мкс)</a:t>
            </a:r>
            <a:endParaRPr lang="en-US" sz="1100" dirty="0"/>
          </a:p>
        </p:txBody>
      </p:sp>
      <p:sp>
        <p:nvSpPr>
          <p:cNvPr id="9" name="statA3_big"/>
          <p:cNvSpPr txBox="1"/>
          <p:nvPr/>
        </p:nvSpPr>
        <p:spPr>
          <a:xfrm>
            <a:off x="6766560" y="3429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159</a:t>
            </a:r>
            <a:endParaRPr lang="en-US" sz="3000" dirty="0"/>
          </a:p>
        </p:txBody>
      </p:sp>
      <p:sp>
        <p:nvSpPr>
          <p:cNvPr id="10" name="statA3_lbl"/>
          <p:cNvSpPr txBox="1"/>
          <p:nvPr/>
        </p:nvSpPr>
        <p:spPr>
          <a:xfrm>
            <a:off x="6766560" y="40142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χ² при захвате из config (0,01): отвергается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23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При PSF 0,35 × 1,5 мкм χ² = 77,8: результат зависит от оптики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B. Clements 1992: нужен D в щели в 80 раз ниже</a:t>
            </a:r>
            <a:endParaRPr lang="en-US" sz="2400" dirty="0"/>
          </a:p>
        </p:txBody>
      </p:sp>
      <p:pic>
        <p:nvPicPr>
          <p:cNvPr id="3" name="fit_b_img" descr="fit_B_cl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2884279"/>
          </a:xfrm>
          <a:prstGeom prst="rect">
            <a:avLst/>
          </a:prstGeom>
        </p:spPr>
      </p:pic>
      <p:sp>
        <p:nvSpPr>
          <p:cNvPr id="4" name="statB1_big"/>
          <p:cNvSpPr txBox="1"/>
          <p:nvPr/>
        </p:nvSpPr>
        <p:spPr>
          <a:xfrm>
            <a:off x="5029200" y="1051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4,0</a:t>
            </a:r>
            <a:endParaRPr lang="en-US" sz="3000" dirty="0"/>
          </a:p>
        </p:txBody>
      </p:sp>
      <p:sp>
        <p:nvSpPr>
          <p:cNvPr id="5" name="statB1_lbl"/>
          <p:cNvSpPr txBox="1"/>
          <p:nvPr/>
        </p:nvSpPr>
        <p:spPr>
          <a:xfrm>
            <a:off x="5029200" y="1636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D_cleft в минимуме, нм²/мкс (3,94-4,08)</a:t>
            </a:r>
            <a:endParaRPr lang="en-US" sz="1100" dirty="0"/>
          </a:p>
        </p:txBody>
      </p:sp>
      <p:sp>
        <p:nvSpPr>
          <p:cNvPr id="6" name="statB2_big"/>
          <p:cNvSpPr txBox="1"/>
          <p:nvPr/>
        </p:nvSpPr>
        <p:spPr>
          <a:xfrm>
            <a:off x="6949440" y="1051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330</a:t>
            </a:r>
            <a:endParaRPr lang="en-US" sz="3000" dirty="0"/>
          </a:p>
        </p:txBody>
      </p:sp>
      <p:sp>
        <p:nvSpPr>
          <p:cNvPr id="7" name="statB2_lbl"/>
          <p:cNvSpPr txBox="1"/>
          <p:nvPr/>
        </p:nvSpPr>
        <p:spPr>
          <a:xfrm>
            <a:off x="6949440" y="1636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D_cleft измеренный, нм²/мкс</a:t>
            </a:r>
            <a:endParaRPr lang="en-US" sz="1100" dirty="0"/>
          </a:p>
        </p:txBody>
      </p:sp>
      <p:sp>
        <p:nvSpPr>
          <p:cNvPr id="8" name="statB3_big"/>
          <p:cNvSpPr txBox="1"/>
          <p:nvPr/>
        </p:nvSpPr>
        <p:spPr>
          <a:xfrm>
            <a:off x="502920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10,2 / 15</a:t>
            </a:r>
            <a:endParaRPr lang="en-US" sz="3000" dirty="0"/>
          </a:p>
        </p:txBody>
      </p:sp>
      <p:sp>
        <p:nvSpPr>
          <p:cNvPr id="9" name="statB3_lbl"/>
          <p:cNvSpPr txBox="1"/>
          <p:nvPr/>
        </p:nvSpPr>
        <p:spPr>
          <a:xfrm>
            <a:off x="5029200" y="28712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χ² в минимуме</a:t>
            </a:r>
            <a:endParaRPr lang="en-US" sz="1100" dirty="0"/>
          </a:p>
        </p:txBody>
      </p:sp>
      <p:sp>
        <p:nvSpPr>
          <p:cNvPr id="10" name="statB4_big"/>
          <p:cNvSpPr txBox="1"/>
          <p:nvPr/>
        </p:nvSpPr>
        <p:spPr>
          <a:xfrm>
            <a:off x="694944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573</a:t>
            </a:r>
            <a:endParaRPr lang="en-US" sz="3000" dirty="0"/>
          </a:p>
        </p:txBody>
      </p:sp>
      <p:sp>
        <p:nvSpPr>
          <p:cNvPr id="11" name="statB4_lbl"/>
          <p:cNvSpPr txBox="1"/>
          <p:nvPr/>
        </p:nvSpPr>
        <p:spPr>
          <a:xfrm>
            <a:off x="6949440" y="28712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χ² при измеренном D</a:t>
            </a:r>
            <a:endParaRPr lang="en-US" sz="1100" dirty="0"/>
          </a:p>
        </p:txBody>
      </p:sp>
      <p:sp>
        <p:nvSpPr>
          <p:cNvPr id="12" name="b_conclusion"/>
          <p:cNvSpPr/>
          <p:nvPr/>
        </p:nvSpPr>
        <p:spPr>
          <a:xfrm>
            <a:off x="5029200" y="352044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Вывод: в модели щель - шар радиусом 200 нм, в реальности плоский слой ~20 нм. Чтобы задержать глутамат, шару приходится занижать 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Выводы и следующие шаги</a:t>
            </a:r>
            <a:endParaRPr lang="en-US" sz="2400" dirty="0"/>
          </a:p>
        </p:txBody>
      </p:sp>
      <p:sp>
        <p:nvSpPr>
          <p:cNvPr id="3" name="concl_card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Что показала подгонка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Перенос вне синапса с измеренным D согласуется с измерениями Matthews.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Захват из config слишком сильный для этих данных.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Щель в виде шара не воспроизводит Clements при реальном 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 измеренными D инверсия профиля из курсовой, скорее всего, исчезнет.</a:t>
            </a:r>
            <a:endParaRPr lang="en-US" sz="1300" dirty="0"/>
          </a:p>
        </p:txBody>
      </p:sp>
      <p:sp>
        <p:nvSpPr>
          <p:cNvPr id="5" name="next_card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2344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Следующие шаги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Щель как плоский слой 20 нм внутри r &lt; a, снаружи 3D.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Кинетика NMDA-рецептора и подгонка к измеренным точкам Clements Fig. 1D.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Уточнить PSF по другим работам с тем же микроскопом.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Решить вместе: что делаем с инверсией.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FU Verification">
  <a:themeElements>
    <a:clrScheme name="SFU Verification">
      <a:dk1>
        <a:srgbClr val="232A31"/>
      </a:dk1>
      <a:lt1>
        <a:srgbClr val="FFFFFF"/>
      </a:lt1>
      <a:dk2>
        <a:srgbClr val="5D6E7E"/>
      </a:dk2>
      <a:lt2>
        <a:srgbClr val="EEF2F6"/>
      </a:lt2>
      <a:accent1>
        <a:srgbClr val="FF7431"/>
      </a:accent1>
      <a:accent2>
        <a:srgbClr val="5D6E7E"/>
      </a:accent2>
      <a:accent3>
        <a:srgbClr val="CED8E4"/>
      </a:accent3>
      <a:accent4>
        <a:srgbClr val="2A78D6"/>
      </a:accent4>
      <a:accent5>
        <a:srgbClr val="1BAF7A"/>
      </a:accent5>
      <a:accent6>
        <a:srgbClr val="B84A1A"/>
      </a:accent6>
      <a:hlink>
        <a:srgbClr val="2A78D6"/>
      </a:hlink>
      <a:folHlink>
        <a:srgbClr val="5D6E7E"/>
      </a:folHlink>
    </a:clrScheme>
    <a:fontScheme name="SFU Verific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Верификация модели диффузии глутамата</dc:title>
  <dc:subject>PptxGenJS Presentation</dc:subject>
  <dc:creator>Владислав, БФ23-05Б</dc:creator>
  <cp:lastModifiedBy>Владислав, БФ23-05Б</cp:lastModifiedBy>
  <cp:revision>1</cp:revision>
  <dcterms:created xsi:type="dcterms:W3CDTF">2026-10-10T14:17:24Z</dcterms:created>
  <dcterms:modified xsi:type="dcterms:W3CDTF">2026-10-10T14:17:24Z</dcterms:modified>
</cp:coreProperties>
</file>